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17904" cy="329184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0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517904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FC2E4"/>
                </a:solidFill>
                <a:latin typeface="Aptos"/>
              </a:rPr>
              <a:t>GITHUB ·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77240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GitHub 三大核心概念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7772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7C5DC"/>
                </a:solidFill>
                <a:latin typeface="Microsoft YaHei"/>
              </a:rPr>
              <a:t>从代码协作，到后台自动化，再到云端交付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64992"/>
            <a:ext cx="493776" cy="493776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2560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Pull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Microsoft YaHei"/>
              </a:rPr>
              <a:t>代码审查与合并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3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3364992"/>
            <a:ext cx="493776" cy="493776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64992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4005072"/>
            <a:ext cx="2560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Actions 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4425696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Microsoft YaHei"/>
              </a:rPr>
              <a:t>后台执行自动化任务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3527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82127" y="3364992"/>
            <a:ext cx="493776" cy="493776"/>
          </a:xfrm>
          <a:prstGeom prst="roundRect">
            <a:avLst/>
          </a:prstGeom>
          <a:solidFill>
            <a:srgbClr val="13A36D"/>
          </a:solidFill>
          <a:ln w="12700">
            <a:solidFill>
              <a:srgbClr val="13A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3364992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4005072"/>
            <a:ext cx="2560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云端集成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425696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Microsoft YaHei"/>
              </a:rPr>
              <a:t>连接部署、通知与服务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4069080"/>
            <a:ext cx="347472" cy="0"/>
          </a:xfrm>
          <a:prstGeom prst="line">
            <a:avLst/>
          </a:prstGeom>
          <a:ln w="25400">
            <a:solidFill>
              <a:srgbClr val="637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51192" y="4069080"/>
            <a:ext cx="347472" cy="0"/>
          </a:xfrm>
          <a:prstGeom prst="line">
            <a:avLst/>
          </a:prstGeom>
          <a:ln w="25400">
            <a:solidFill>
              <a:srgbClr val="637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199632"/>
            <a:ext cx="457200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4C3"/>
                </a:solidFill>
                <a:latin typeface="Microsoft YaHei"/>
              </a:rPr>
              <a:t>概念说明 · 场景示例 · 协同流程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Microsoft YaHei"/>
              </a:rPr>
              <a:t>GitHub PR（Pull Request）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向项目维护者提出代码合并申请，并在合入主分支前完成审查与讨论。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417320"/>
            <a:ext cx="1737360" cy="71323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7373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修改代码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1417320"/>
            <a:ext cx="43891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1417320"/>
            <a:ext cx="1737360" cy="71323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417320"/>
            <a:ext cx="17373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发起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417320"/>
            <a:ext cx="43891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417320"/>
            <a:ext cx="1737360" cy="71323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417320"/>
            <a:ext cx="17373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757E8"/>
                </a:solidFill>
                <a:latin typeface="Microsoft YaHei"/>
              </a:rPr>
              <a:t>审查 / 评论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17320"/>
            <a:ext cx="43891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1417320"/>
            <a:ext cx="1737360" cy="713232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FF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417320"/>
            <a:ext cx="17373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9B42"/>
                </a:solidFill>
                <a:latin typeface="Microsoft YaHei"/>
              </a:rPr>
              <a:t>修改迭代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417320"/>
            <a:ext cx="43891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6648" y="1417320"/>
            <a:ext cx="1737360" cy="7132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1417320"/>
            <a:ext cx="17373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3A36D"/>
                </a:solidFill>
                <a:latin typeface="Microsoft YaHei"/>
              </a:rPr>
              <a:t>合并主分支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2697480"/>
            <a:ext cx="786384" cy="310896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697480"/>
            <a:ext cx="78638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核心定义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118104"/>
            <a:ext cx="3099816" cy="2633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Microsoft YaHei"/>
              </a:rPr>
              <a:t>Pull Request，中文常译为“拉取请求”或“合并请求”。它不是直接改动主分支，而是提交一份可审查、可讨论的合并申请。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44568" y="2697480"/>
            <a:ext cx="786384" cy="310896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2697480"/>
            <a:ext cx="78638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757E8"/>
                </a:solidFill>
                <a:latin typeface="Microsoft YaHei"/>
              </a:rPr>
              <a:t>核心作用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118104"/>
            <a:ext cx="3099816" cy="2633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Microsoft YaHei"/>
              </a:rPr>
              <a:t>集中展示代码差异，支持在线代码审查、逐行评论、讨论和持续修改。审核通过后，再将变更合入目标分支。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8" y="2697480"/>
            <a:ext cx="786384" cy="310896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697480"/>
            <a:ext cx="78638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3A36D"/>
                </a:solidFill>
                <a:latin typeface="Microsoft YaHei"/>
              </a:rPr>
              <a:t>典型场景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118104"/>
            <a:ext cx="3099816" cy="2633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Microsoft YaHei"/>
              </a:rPr>
              <a:t>• 为开源项目贡献代码
• 团队内部控制合入权限
• 在合并前运行测试和质量检查
• 记录决策与审查过程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GitHub 协作与自动化 · 概念速览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Microsoft YaHei"/>
              </a:rPr>
              <a:t>GitHub 后台 Agent（Actions Runner）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Runner 是承载 GitHub Actions 工作流的执行程序；可使用官方云端运行器，也可自托管。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87952" y="1417320"/>
            <a:ext cx="3822191" cy="121615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554480"/>
            <a:ext cx="3822191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757E8"/>
                </a:solidFill>
                <a:latin typeface="Aptos"/>
              </a:rPr>
              <a:t>ACTIONS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47672"/>
            <a:ext cx="3602736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44A"/>
                </a:solidFill>
                <a:latin typeface="Microsoft YaHei"/>
              </a:rPr>
              <a:t>领取任务 · 准备环境 · 执行命令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72768"/>
            <a:ext cx="2331720" cy="8229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5"/>
            <a:ext cx="20574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Microsoft YaHei"/>
              </a:rPr>
              <a:t>工作流触发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7"/>
            <a:ext cx="205740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push / PR / 定时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82112"/>
            <a:ext cx="24505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17627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Microsoft YaHei"/>
              </a:rPr>
              <a:t>官方云端运行器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39312"/>
            <a:ext cx="217627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即开即用
由 GitHub 托管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182112"/>
            <a:ext cx="24505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291840"/>
            <a:ext cx="217627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Microsoft YaHei"/>
              </a:rPr>
              <a:t>自托管 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639312"/>
            <a:ext cx="217627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本地服务器 / 私有机器
自行维护与控制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7952" y="3675887"/>
            <a:ext cx="382219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3785615"/>
            <a:ext cx="354787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Microsoft YaHei"/>
              </a:rPr>
              <a:t>输出结果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133087"/>
            <a:ext cx="354787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构建产物 · 测试报告 · 部署状态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1984248"/>
            <a:ext cx="1170432" cy="0"/>
          </a:xfrm>
          <a:prstGeom prst="line">
            <a:avLst/>
          </a:prstGeom>
          <a:ln w="3175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633472"/>
            <a:ext cx="0" cy="1042415"/>
          </a:xfrm>
          <a:prstGeom prst="line">
            <a:avLst/>
          </a:prstGeom>
          <a:ln w="31750">
            <a:solidFill>
              <a:srgbClr val="77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236976" y="2359152"/>
            <a:ext cx="950976" cy="1042416"/>
          </a:xfrm>
          <a:prstGeom prst="line">
            <a:avLst/>
          </a:prstGeom>
          <a:ln w="254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10144" y="2359152"/>
            <a:ext cx="950976" cy="1042416"/>
          </a:xfrm>
          <a:prstGeom prst="line">
            <a:avLst/>
          </a:prstGeom>
          <a:ln w="254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5166360"/>
            <a:ext cx="10817352" cy="786384"/>
          </a:xfrm>
          <a:prstGeom prst="round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66360"/>
            <a:ext cx="1097280" cy="7863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AFC2E4"/>
                </a:solidFill>
                <a:latin typeface="Microsoft YaHei"/>
              </a:rPr>
              <a:t>典型任务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166360"/>
            <a:ext cx="8979408" cy="7863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代码构建   ·   自动化测试   ·   打包制品   ·   部署发布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GitHub 协作与自动化 · 概念速览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Microsoft YaHei"/>
              </a:rPr>
              <a:t>GitHub 云端集成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把 GitHub 与云计算、存储、CI/CD、通知和质量平台连接起来，形成连续交付链路。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09160" y="2139696"/>
            <a:ext cx="2761488" cy="2761488"/>
          </a:xfrm>
          <a:prstGeom prst="ellipse">
            <a:avLst/>
          </a:prstGeom>
          <a:solidFill>
            <a:srgbClr val="152238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523744"/>
            <a:ext cx="2761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90672"/>
            <a:ext cx="2761488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7C5DC"/>
                </a:solidFill>
                <a:latin typeface="Microsoft YaHei"/>
              </a:rPr>
              <a:t>代码与事件中心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12463"/>
            <a:ext cx="276148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FA4C3"/>
                </a:solidFill>
                <a:latin typeface="Aptos"/>
              </a:rPr>
              <a:t>API · Webhook ·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1609344"/>
            <a:ext cx="146304" cy="60350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536192"/>
            <a:ext cx="2194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6BFF"/>
                </a:solidFill>
                <a:latin typeface="Microsoft YaHei"/>
              </a:rPr>
              <a:t>云端部署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11095"/>
            <a:ext cx="21945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云主机 · 容器 · Serverless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97112" y="1609344"/>
            <a:ext cx="146304" cy="603504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536192"/>
            <a:ext cx="2194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757E8"/>
                </a:solidFill>
                <a:latin typeface="Microsoft YaHei"/>
              </a:rPr>
              <a:t>通知协作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11095"/>
            <a:ext cx="21945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Slack · 邮件 · 工单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52544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4544568"/>
            <a:ext cx="146304" cy="603504"/>
          </a:xfrm>
          <a:prstGeom prst="roundRect">
            <a:avLst/>
          </a:prstGeom>
          <a:solidFill>
            <a:srgbClr val="F59B42"/>
          </a:solidFill>
          <a:ln w="12700">
            <a:solidFill>
              <a:srgbClr val="F59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71416"/>
            <a:ext cx="2194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9B42"/>
                </a:solidFill>
                <a:latin typeface="Microsoft YaHei"/>
              </a:rPr>
              <a:t>质量与测试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20"/>
            <a:ext cx="21945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自动测试 · 安全扫描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4352544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97112" y="4544568"/>
            <a:ext cx="146304" cy="603504"/>
          </a:xfrm>
          <a:prstGeom prst="roundRect">
            <a:avLst/>
          </a:prstGeom>
          <a:solidFill>
            <a:srgbClr val="13A36D"/>
          </a:solidFill>
          <a:ln w="12700">
            <a:solidFill>
              <a:srgbClr val="13A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4471416"/>
            <a:ext cx="2194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3A36D"/>
                </a:solidFill>
                <a:latin typeface="Microsoft YaHei"/>
              </a:rPr>
              <a:t>存储与制品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846320"/>
            <a:ext cx="21945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镜像 · 包 · 构建产物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56432" y="1901952"/>
            <a:ext cx="1435608" cy="859536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87768" y="1901952"/>
            <a:ext cx="1444752" cy="859536"/>
          </a:xfrm>
          <a:prstGeom prst="line">
            <a:avLst/>
          </a:prstGeom>
          <a:ln w="25400">
            <a:solidFill>
              <a:srgbClr val="77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56432" y="4251960"/>
            <a:ext cx="1435608" cy="594360"/>
          </a:xfrm>
          <a:prstGeom prst="line">
            <a:avLst/>
          </a:prstGeom>
          <a:ln w="25400">
            <a:solidFill>
              <a:srgbClr val="F59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287768" y="4251960"/>
            <a:ext cx="1444752" cy="594360"/>
          </a:xfrm>
          <a:prstGeom prst="line">
            <a:avLst/>
          </a:prstGeom>
          <a:ln w="25400">
            <a:solidFill>
              <a:srgbClr val="13A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86200" y="5349240"/>
            <a:ext cx="4416552" cy="603504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5349240"/>
            <a:ext cx="441655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3A36D"/>
                </a:solidFill>
                <a:latin typeface="Microsoft YaHei"/>
              </a:rPr>
              <a:t>提交代码后：自动构建 → 测试 → 部署 → 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GitHub 协作与自动化 · 概念速览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Microsoft YaHei"/>
              </a:rPr>
              <a:t>三者如何协同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PR 管理“是否合并”，Runner 负责“在哪里执行”，云端集成决定“连接哪些外部能力”。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5" y="1216152"/>
            <a:ext cx="530352" cy="53035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12161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47088"/>
            <a:ext cx="156362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Microsoft YaHei"/>
              </a:rPr>
              <a:t>提交代码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1563624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开发者推送分支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792224"/>
            <a:ext cx="438912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1216152"/>
            <a:ext cx="530352" cy="53035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2161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847088"/>
            <a:ext cx="156362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Microsoft YaHei"/>
              </a:rPr>
              <a:t>PR 审查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276856"/>
            <a:ext cx="1563624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讨论、测试、批准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792224"/>
            <a:ext cx="438912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33872" y="1216152"/>
            <a:ext cx="530352" cy="530352"/>
          </a:xfrm>
          <a:prstGeom prst="ellipse">
            <a:avLst/>
          </a:prstGeom>
          <a:solidFill>
            <a:srgbClr val="77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12161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1847088"/>
            <a:ext cx="156362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Microsoft YaHei"/>
              </a:rPr>
              <a:t>Runner 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276856"/>
            <a:ext cx="1563624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构建、测试、打包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92224"/>
            <a:ext cx="438912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60" y="1216152"/>
            <a:ext cx="530352" cy="530352"/>
          </a:xfrm>
          <a:prstGeom prst="ellipse">
            <a:avLst/>
          </a:prstGeom>
          <a:solidFill>
            <a:srgbClr val="13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2161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1847088"/>
            <a:ext cx="156362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Microsoft YaHei"/>
              </a:rPr>
              <a:t>云端集成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2276856"/>
            <a:ext cx="1563624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部署、通知、存储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1792224"/>
            <a:ext cx="438912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2448" y="1216152"/>
            <a:ext cx="530352" cy="530352"/>
          </a:xfrm>
          <a:prstGeom prst="ellipse">
            <a:avLst/>
          </a:prstGeom>
          <a:solidFill>
            <a:srgbClr val="13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12161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1847088"/>
            <a:ext cx="156362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Microsoft YaHei"/>
              </a:rPr>
              <a:t>交付上线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276856"/>
            <a:ext cx="1563624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Microsoft YaHei"/>
              </a:rPr>
              <a:t>反馈状态与结果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456432"/>
            <a:ext cx="1828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6344A"/>
                </a:solidFill>
                <a:latin typeface="Microsoft YaHei"/>
              </a:rPr>
              <a:t>快速区分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3977639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672" y="4087368"/>
            <a:ext cx="1207008" cy="329184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087368"/>
            <a:ext cx="120700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PR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4050791"/>
            <a:ext cx="141732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Microsoft YaHei"/>
              </a:rPr>
              <a:t>协作机制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13632" y="4050791"/>
            <a:ext cx="722376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Microsoft YaHei"/>
              </a:rPr>
              <a:t>让代码变更可审查、可讨论、可批准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4672583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4672" y="4782312"/>
            <a:ext cx="1207008" cy="329184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782312"/>
            <a:ext cx="120700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757E8"/>
                </a:solidFill>
                <a:latin typeface="Microsoft YaHei"/>
              </a:rPr>
              <a:t>Runner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7712" y="4745736"/>
            <a:ext cx="141732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Microsoft YaHei"/>
              </a:rPr>
              <a:t>执行载体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4745736"/>
            <a:ext cx="722376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Microsoft YaHei"/>
              </a:rPr>
              <a:t>实际运行工作流中的命令与任务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5367527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" y="5477255"/>
            <a:ext cx="1207008" cy="329184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5477255"/>
            <a:ext cx="120700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3A36D"/>
                </a:solidFill>
                <a:latin typeface="Microsoft YaHei"/>
              </a:rPr>
              <a:t>云端集成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67712" y="5440679"/>
            <a:ext cx="141732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Microsoft YaHei"/>
              </a:rPr>
              <a:t>连接能力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5440679"/>
            <a:ext cx="722376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Microsoft YaHei"/>
              </a:rPr>
              <a:t>把 GitHub 事件与外部云服务串联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GitHub 协作与自动化 · 概念速览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三大核心概念</dc:title>
  <dc:subject>Pull Request、Actions Runner 与云端集成</dc:subject>
  <dc:creator>PPT-Producer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