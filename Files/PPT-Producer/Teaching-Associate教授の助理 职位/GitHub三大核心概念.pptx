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一、</a:t>
            </a:r>
            <a:r>
              <a:rPr lang="en-US" altLang="zh-CN"/>
              <a:t>GitHub PR（Pull Request）</a:t>
            </a:r>
            <a:endParaRPr lang="en-US" altLang="zh-CN"/>
          </a:p>
          <a:p>
            <a:r>
              <a:rPr lang="zh-CN" altLang="en-US"/>
              <a:t>核心定义‌：全称</a:t>
            </a:r>
            <a:r>
              <a:rPr lang="en-US" altLang="zh-CN"/>
              <a:t>Pull Request，</a:t>
            </a:r>
            <a:r>
              <a:rPr lang="zh-CN" altLang="en-US"/>
              <a:t>中文译作“拉取请求/合并请求”，是</a:t>
            </a:r>
            <a:r>
              <a:rPr lang="en-US" altLang="zh-CN"/>
              <a:t>GitHub</a:t>
            </a:r>
            <a:r>
              <a:rPr lang="zh-CN" altLang="en-US"/>
              <a:t>最核心的代码协作机制。</a:t>
            </a:r>
            <a:endParaRPr lang="zh-CN" altLang="en-US"/>
          </a:p>
          <a:p>
            <a:r>
              <a:rPr lang="zh-CN" altLang="en-US"/>
              <a:t>核心作用‌：开发者修改完代码后，向项目维护者发起“请求把我的代码合并进主仓库”的申请，支持在线代码审查、评论讨论、修改迭代，审核通过后代码才会被合入主分支。</a:t>
            </a:r>
            <a:endParaRPr lang="zh-CN" altLang="en-US"/>
          </a:p>
          <a:p>
            <a:r>
              <a:rPr lang="zh-CN" altLang="en-US"/>
              <a:t>典型场景‌：给开源项目贡献代码、团队内部管控代码合入权限，保障合并前的代码质量。‌</a:t>
            </a:r>
            <a:endParaRPr lang="zh-CN" altLang="en-US"/>
          </a:p>
          <a:p>
            <a:r>
              <a:rPr lang="zh-CN" altLang="en-US"/>
              <a:t>官网</a:t>
            </a:r>
            <a:endParaRPr lang="zh-CN" altLang="en-US"/>
          </a:p>
          <a:p>
            <a:r>
              <a:rPr lang="zh-CN" altLang="en-US"/>
              <a:t>二、</a:t>
            </a:r>
            <a:r>
              <a:rPr lang="en-US" altLang="zh-CN"/>
              <a:t>GitHub </a:t>
            </a:r>
            <a:r>
              <a:rPr lang="zh-CN" altLang="en-US"/>
              <a:t>后台 </a:t>
            </a:r>
            <a:r>
              <a:rPr lang="en-US" altLang="zh-CN"/>
              <a:t>Agent（</a:t>
            </a:r>
            <a:r>
              <a:rPr lang="zh-CN" altLang="en-US"/>
              <a:t>运行器/自托管代理）</a:t>
            </a:r>
            <a:endParaRPr lang="zh-CN" altLang="en-US"/>
          </a:p>
          <a:p>
            <a:r>
              <a:rPr lang="zh-CN" altLang="en-US"/>
              <a:t>核心定义‌：也叫</a:t>
            </a:r>
            <a:r>
              <a:rPr lang="en-US" altLang="zh-CN"/>
              <a:t>GitHub Actions Runner，</a:t>
            </a:r>
            <a:r>
              <a:rPr lang="zh-CN" altLang="en-US"/>
              <a:t>是后台执行自动化任务的代理程序。</a:t>
            </a:r>
            <a:endParaRPr lang="zh-CN" altLang="en-US"/>
          </a:p>
          <a:p>
            <a:r>
              <a:rPr lang="zh-CN" altLang="en-US"/>
              <a:t>核心作用‌：用来承载</a:t>
            </a:r>
            <a:r>
              <a:rPr lang="en-US" altLang="zh-CN"/>
              <a:t>GitHub</a:t>
            </a:r>
            <a:r>
              <a:rPr lang="zh-CN" altLang="en-US"/>
              <a:t>自动化工作流的实际运行，</a:t>
            </a:r>
            <a:r>
              <a:rPr lang="en-US" altLang="zh-CN"/>
              <a:t>GitHub</a:t>
            </a:r>
            <a:r>
              <a:rPr lang="zh-CN" altLang="en-US"/>
              <a:t>官方提供了云端公共运行器，也支持用户在自己的本地服务器、私有机器上部署自托管</a:t>
            </a:r>
            <a:r>
              <a:rPr lang="en-US" altLang="zh-CN"/>
              <a:t>Agent。</a:t>
            </a:r>
            <a:endParaRPr lang="en-US" altLang="zh-CN"/>
          </a:p>
          <a:p>
            <a:r>
              <a:rPr lang="zh-CN" altLang="en-US"/>
              <a:t>典型场景‌：后台静默执行代码构建、自动化测试、打包部署等任务，不占用开发者本地资源。</a:t>
            </a:r>
            <a:endParaRPr lang="zh-CN" altLang="en-US"/>
          </a:p>
          <a:p>
            <a:r>
              <a:rPr lang="zh-CN" altLang="en-US"/>
              <a:t>三、</a:t>
            </a:r>
            <a:r>
              <a:rPr lang="en-US" altLang="zh-CN"/>
              <a:t>GitHub </a:t>
            </a:r>
            <a:r>
              <a:rPr lang="zh-CN" altLang="en-US"/>
              <a:t>云端集成</a:t>
            </a:r>
            <a:endParaRPr lang="zh-CN" altLang="en-US"/>
          </a:p>
          <a:p>
            <a:r>
              <a:rPr lang="zh-CN" altLang="en-US"/>
              <a:t>核心定义‌：指把</a:t>
            </a:r>
            <a:r>
              <a:rPr lang="en-US" altLang="zh-CN"/>
              <a:t>GitHub</a:t>
            </a:r>
            <a:r>
              <a:rPr lang="zh-CN" altLang="en-US"/>
              <a:t>平台和各类云端服务、第三方工具打通连接的扩展能力。</a:t>
            </a:r>
            <a:endParaRPr lang="zh-CN" altLang="en-US"/>
          </a:p>
          <a:p>
            <a:r>
              <a:rPr lang="zh-CN" altLang="en-US"/>
              <a:t>核心作用‌：将</a:t>
            </a:r>
            <a:r>
              <a:rPr lang="en-US" altLang="zh-CN"/>
              <a:t>GitHub</a:t>
            </a:r>
            <a:r>
              <a:rPr lang="zh-CN" altLang="en-US"/>
              <a:t>的代码托管能力和云端的计算、存储、</a:t>
            </a:r>
            <a:r>
              <a:rPr lang="en-US" altLang="zh-CN"/>
              <a:t>CI/CD</a:t>
            </a:r>
            <a:r>
              <a:rPr lang="zh-CN" altLang="en-US"/>
              <a:t>等能力结合，扩展原生功能，简化开发工作流。</a:t>
            </a:r>
            <a:endParaRPr lang="zh-CN" altLang="en-US"/>
          </a:p>
          <a:p>
            <a:r>
              <a:rPr lang="zh-CN" altLang="en-US"/>
              <a:t>典型场景‌：对接云厂商的部署服务、</a:t>
            </a:r>
            <a:r>
              <a:rPr lang="en-US" altLang="zh-CN"/>
              <a:t>Slack</a:t>
            </a:r>
            <a:r>
              <a:rPr lang="zh-CN" altLang="en-US"/>
              <a:t>等通知工具、自动化测试平台，实现“代码提交后云端自动构建、自动部署上线”的全流程。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br>
              <a:rPr lang="en-US" altLang="zh-CN"/>
            </a:br>
            <a:r>
              <a:rPr lang="en-US" altLang="zh-CN"/>
              <a:t>Cursor</a:t>
            </a:r>
            <a:r>
              <a:rPr lang="zh-CN" altLang="en-US"/>
              <a:t>任务后台</a:t>
            </a:r>
            <a:br>
              <a:rPr lang="zh-CN" altLang="en-US"/>
            </a:br>
            <a:r>
              <a:rPr lang="en-US" altLang="zh-CN"/>
              <a:t>https://cursor.com/agents/bc-a4b5c128-f2ff-4b80-b633-ae3cb39c3a1e?branch=cursor/create-calendar-documents-3a1e&amp;app=files</a:t>
            </a:r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566928"/>
            <a:ext cx="1517904" cy="329184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03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517904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AFC2E4"/>
                </a:solidFill>
                <a:latin typeface="Aptos"/>
              </a:rPr>
              <a:t>GITHUB · CONCEPTS</a:t>
            </a:r>
            <a:endParaRPr sz="1000" b="1">
              <a:solidFill>
                <a:srgbClr val="AFC2E4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7772400" cy="7132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微软雅黑" panose="020B0503020204020204" charset="-122"/>
              </a:rPr>
              <a:t>GitHub 三大核心概念</a:t>
            </a:r>
            <a:endParaRPr sz="3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1975104"/>
            <a:ext cx="777240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B7C5DC"/>
                </a:solidFill>
                <a:latin typeface="微软雅黑" panose="020B0503020204020204" charset="-122"/>
              </a:rPr>
              <a:t>从代码协作，到后台自动化，再到云端交付</a:t>
            </a:r>
            <a:endParaRPr sz="1800" b="0">
              <a:solidFill>
                <a:srgbClr val="B7C5DC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3127248"/>
            <a:ext cx="3072384" cy="1874519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3A4C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3364992"/>
            <a:ext cx="493776" cy="493776"/>
          </a:xfrm>
          <a:prstGeom prst="roundRect">
            <a:avLst/>
          </a:prstGeom>
          <a:solidFill>
            <a:srgbClr val="2F6BFF"/>
          </a:solidFill>
          <a:ln w="1270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64992"/>
            <a:ext cx="493776" cy="4937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01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3999611"/>
            <a:ext cx="2560320" cy="39497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2100" b="1">
                <a:solidFill>
                  <a:srgbClr val="FFFFFF"/>
                </a:solidFill>
                <a:latin typeface="Aptos"/>
              </a:rPr>
              <a:t>PR)</a:t>
            </a:r>
            <a:r>
              <a:rPr sz="2100" b="1">
                <a:solidFill>
                  <a:srgbClr val="FFFFFF"/>
                </a:solidFill>
                <a:latin typeface="Aptos"/>
              </a:rPr>
              <a:t>Pull Request</a:t>
            </a:r>
            <a:endParaRPr sz="2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4425696"/>
            <a:ext cx="25603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7C5DC"/>
                </a:solidFill>
                <a:latin typeface="微软雅黑" panose="020B0503020204020204" charset="-122"/>
              </a:rPr>
              <a:t>代码审查与合并</a:t>
            </a:r>
            <a:endParaRPr sz="1300" b="0">
              <a:solidFill>
                <a:srgbClr val="B7C5DC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169663" y="3127248"/>
            <a:ext cx="3072384" cy="1874519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3A4C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98264" y="3364992"/>
            <a:ext cx="493776" cy="493776"/>
          </a:xfrm>
          <a:prstGeom prst="roundRect">
            <a:avLst/>
          </a:prstGeom>
          <a:solidFill>
            <a:srgbClr val="7757E8"/>
          </a:solidFill>
          <a:ln w="12700">
            <a:solidFill>
              <a:srgbClr val="775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8264" y="3364992"/>
            <a:ext cx="493776" cy="4937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02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398264" y="4005072"/>
            <a:ext cx="256032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ptos"/>
              </a:rPr>
              <a:t>Actions Runner</a:t>
            </a:r>
            <a:endParaRPr sz="2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98264" y="4425696"/>
            <a:ext cx="25603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7C5DC"/>
                </a:solidFill>
                <a:latin typeface="微软雅黑" panose="020B0503020204020204" charset="-122"/>
              </a:rPr>
              <a:t>后台执行自动化任务</a:t>
            </a:r>
            <a:endParaRPr sz="1300" b="0">
              <a:solidFill>
                <a:srgbClr val="B7C5DC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653527" y="3127248"/>
            <a:ext cx="3072384" cy="1874519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3A4C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882127" y="3364992"/>
            <a:ext cx="493776" cy="493776"/>
          </a:xfrm>
          <a:prstGeom prst="roundRect">
            <a:avLst/>
          </a:prstGeom>
          <a:solidFill>
            <a:srgbClr val="13A36D"/>
          </a:solidFill>
          <a:ln w="12700">
            <a:solidFill>
              <a:srgbClr val="13A3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82127" y="3364992"/>
            <a:ext cx="493776" cy="4937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03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882127" y="4005072"/>
            <a:ext cx="256032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</a:rPr>
              <a:t>云端集成</a:t>
            </a:r>
            <a:endParaRPr sz="2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882127" y="4425696"/>
            <a:ext cx="25603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7C5DC"/>
                </a:solidFill>
                <a:latin typeface="微软雅黑" panose="020B0503020204020204" charset="-122"/>
              </a:rPr>
              <a:t>连接部署、通知与服务</a:t>
            </a:r>
            <a:endParaRPr sz="1300" b="0">
              <a:solidFill>
                <a:srgbClr val="B7C5DC"/>
              </a:solidFill>
              <a:latin typeface="微软雅黑" panose="020B0503020204020204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3767328" y="4069080"/>
            <a:ext cx="347472" cy="0"/>
          </a:xfrm>
          <a:prstGeom prst="line">
            <a:avLst/>
          </a:prstGeom>
          <a:ln w="25400">
            <a:solidFill>
              <a:srgbClr val="6378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251192" y="4069080"/>
            <a:ext cx="347472" cy="0"/>
          </a:xfrm>
          <a:prstGeom prst="line">
            <a:avLst/>
          </a:prstGeom>
          <a:ln w="25400">
            <a:solidFill>
              <a:srgbClr val="6378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800" y="6199632"/>
            <a:ext cx="457200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A4C3"/>
                </a:solidFill>
                <a:latin typeface="微软雅黑" panose="020B0503020204020204" charset="-122"/>
              </a:rPr>
              <a:t>概念说明 · 场景示例 · 协同流程</a:t>
            </a:r>
            <a:endParaRPr sz="1100" b="0">
              <a:solidFill>
                <a:srgbClr val="8FA4C3"/>
              </a:solidFill>
              <a:latin typeface="微软雅黑" panose="020B0503020204020204" charset="-122"/>
            </a:endParaRPr>
          </a:p>
        </p:txBody>
      </p:sp>
      <p:sp>
        <p:nvSpPr>
          <p:cNvPr id="24" name="TextBox 13"/>
          <p:cNvSpPr txBox="1"/>
          <p:nvPr/>
        </p:nvSpPr>
        <p:spPr>
          <a:xfrm>
            <a:off x="4284599" y="3742436"/>
            <a:ext cx="2560320" cy="39497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2100" b="1">
                <a:solidFill>
                  <a:srgbClr val="FFFFFF"/>
                </a:solidFill>
                <a:latin typeface="Aptos"/>
              </a:rPr>
              <a:t>Agent</a:t>
            </a:r>
            <a:r>
              <a:rPr lang="zh-CN" altLang="en-US" sz="2100" b="1">
                <a:solidFill>
                  <a:srgbClr val="FFFFFF"/>
                </a:solidFill>
                <a:latin typeface="Aptos"/>
              </a:rPr>
              <a:t>）</a:t>
            </a:r>
            <a:endParaRPr lang="zh-CN" altLang="en-US" sz="2100" b="1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Oval 2"/>
          <p:cNvSpPr/>
          <p:nvPr/>
        </p:nvSpPr>
        <p:spPr>
          <a:xfrm>
            <a:off x="566928" y="347472"/>
            <a:ext cx="475488" cy="475488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475488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01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70432" y="237744"/>
            <a:ext cx="7223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26344A"/>
                </a:solidFill>
                <a:latin typeface="微软雅黑" panose="020B0503020204020204" charset="-122"/>
              </a:rPr>
              <a:t>GitHub PR（Pull Request）</a:t>
            </a:r>
            <a:endParaRPr sz="2600" b="1">
              <a:solidFill>
                <a:srgbClr val="26344A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88720" y="694944"/>
            <a:ext cx="98755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6758A"/>
                </a:solidFill>
                <a:latin typeface="微软雅黑" panose="020B0503020204020204" charset="-122"/>
              </a:rPr>
              <a:t>向项目维护者提出代码合并申请，并在合入主分支前完成审查与讨论。</a:t>
            </a:r>
            <a:endParaRPr sz="1100" b="0">
              <a:solidFill>
                <a:srgbClr val="66758A"/>
              </a:solidFill>
              <a:latin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94360" y="1078992"/>
            <a:ext cx="11000232" cy="0"/>
          </a:xfrm>
          <a:prstGeom prst="line">
            <a:avLst/>
          </a:prstGeom>
          <a:ln w="1270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85800" y="1417320"/>
            <a:ext cx="1737360" cy="713232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17320"/>
            <a:ext cx="1737360" cy="7132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F6BFF"/>
                </a:solidFill>
                <a:latin typeface="微软雅黑" panose="020B0503020204020204" charset="-122"/>
              </a:rPr>
              <a:t>修改代码</a:t>
            </a:r>
            <a:endParaRPr sz="1500" b="1">
              <a:solidFill>
                <a:srgbClr val="2F6B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59736" y="1417320"/>
            <a:ext cx="438912" cy="7132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66758A"/>
                </a:solidFill>
                <a:latin typeface="微软雅黑" panose="020B0503020204020204" charset="-122"/>
              </a:rPr>
              <a:t>→</a:t>
            </a:r>
            <a:endParaRPr sz="2200" b="1">
              <a:solidFill>
                <a:srgbClr val="66758A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953512" y="1417320"/>
            <a:ext cx="1737360" cy="713232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53512" y="1417320"/>
            <a:ext cx="1737360" cy="7132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F6BFF"/>
                </a:solidFill>
                <a:latin typeface="微软雅黑" panose="020B0503020204020204" charset="-122"/>
              </a:rPr>
              <a:t>发起 PR</a:t>
            </a:r>
            <a:endParaRPr sz="1500" b="1">
              <a:solidFill>
                <a:srgbClr val="2F6BF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27448" y="1417320"/>
            <a:ext cx="438912" cy="7132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66758A"/>
                </a:solidFill>
                <a:latin typeface="微软雅黑" panose="020B0503020204020204" charset="-122"/>
              </a:rPr>
              <a:t>→</a:t>
            </a:r>
            <a:endParaRPr sz="2200" b="1">
              <a:solidFill>
                <a:srgbClr val="66758A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221224" y="1417320"/>
            <a:ext cx="1737360" cy="713232"/>
          </a:xfrm>
          <a:prstGeom prst="roundRect">
            <a:avLst/>
          </a:prstGeom>
          <a:solidFill>
            <a:srgbClr val="F0EDFF"/>
          </a:solidFill>
          <a:ln w="1270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21224" y="1417320"/>
            <a:ext cx="1737360" cy="7132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7757E8"/>
                </a:solidFill>
                <a:latin typeface="微软雅黑" panose="020B0503020204020204" charset="-122"/>
              </a:rPr>
              <a:t>审查 / 评论</a:t>
            </a:r>
            <a:endParaRPr sz="1500" b="1">
              <a:solidFill>
                <a:srgbClr val="7757E8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995160" y="1417320"/>
            <a:ext cx="438912" cy="7132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66758A"/>
                </a:solidFill>
                <a:latin typeface="微软雅黑" panose="020B0503020204020204" charset="-122"/>
              </a:rPr>
              <a:t>→</a:t>
            </a:r>
            <a:endParaRPr sz="2200" b="1">
              <a:solidFill>
                <a:srgbClr val="66758A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488936" y="1417320"/>
            <a:ext cx="1737360" cy="713232"/>
          </a:xfrm>
          <a:prstGeom prst="roundRect">
            <a:avLst/>
          </a:prstGeom>
          <a:solidFill>
            <a:srgbClr val="FFF1E3"/>
          </a:solidFill>
          <a:ln w="12700">
            <a:solidFill>
              <a:srgbClr val="FFF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88936" y="1417320"/>
            <a:ext cx="1737360" cy="7132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59B42"/>
                </a:solidFill>
                <a:latin typeface="微软雅黑" panose="020B0503020204020204" charset="-122"/>
              </a:rPr>
              <a:t>修改迭代</a:t>
            </a:r>
            <a:endParaRPr sz="1500" b="1">
              <a:solidFill>
                <a:srgbClr val="F59B42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262872" y="1417320"/>
            <a:ext cx="438912" cy="7132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66758A"/>
                </a:solidFill>
                <a:latin typeface="微软雅黑" panose="020B0503020204020204" charset="-122"/>
              </a:rPr>
              <a:t>→</a:t>
            </a:r>
            <a:endParaRPr sz="2200" b="1">
              <a:solidFill>
                <a:srgbClr val="66758A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756648" y="1417320"/>
            <a:ext cx="1737360" cy="713232"/>
          </a:xfrm>
          <a:prstGeom prst="roundRect">
            <a:avLst/>
          </a:prstGeom>
          <a:solidFill>
            <a:srgbClr val="E5F6EF"/>
          </a:solidFill>
          <a:ln w="12700">
            <a:solidFill>
              <a:srgbClr val="E5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56648" y="1417320"/>
            <a:ext cx="1737360" cy="7132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3A36D"/>
                </a:solidFill>
                <a:latin typeface="微软雅黑" panose="020B0503020204020204" charset="-122"/>
              </a:rPr>
              <a:t>合并主分支</a:t>
            </a:r>
            <a:endParaRPr sz="1500" b="1">
              <a:solidFill>
                <a:srgbClr val="13A36D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85800" y="2514600"/>
            <a:ext cx="3502152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86968" y="2697480"/>
            <a:ext cx="786384" cy="310896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2697480"/>
            <a:ext cx="786384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F6BFF"/>
                </a:solidFill>
                <a:latin typeface="微软雅黑" panose="020B0503020204020204" charset="-122"/>
              </a:rPr>
              <a:t>核心定义</a:t>
            </a:r>
            <a:endParaRPr sz="1100" b="1">
              <a:solidFill>
                <a:srgbClr val="2F6BFF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6968" y="3118104"/>
            <a:ext cx="3099816" cy="2633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6344A"/>
                </a:solidFill>
                <a:latin typeface="微软雅黑" panose="020B0503020204020204" charset="-122"/>
              </a:rPr>
              <a:t>Pull Request，中文常译为“拉取请求”或“合并请求”。它不是直接改动主分支，而是提交一份可审查、可讨论的合并申请。</a:t>
            </a:r>
            <a:endParaRPr sz="1500" b="0">
              <a:solidFill>
                <a:srgbClr val="26344A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343400" y="2514600"/>
            <a:ext cx="3502152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44568" y="2697480"/>
            <a:ext cx="786384" cy="310896"/>
          </a:xfrm>
          <a:prstGeom prst="roundRect">
            <a:avLst/>
          </a:prstGeom>
          <a:solidFill>
            <a:srgbClr val="F0EDFF"/>
          </a:solidFill>
          <a:ln w="1270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44568" y="2697480"/>
            <a:ext cx="786384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7757E8"/>
                </a:solidFill>
                <a:latin typeface="微软雅黑" panose="020B0503020204020204" charset="-122"/>
              </a:rPr>
              <a:t>核心作用</a:t>
            </a:r>
            <a:endParaRPr sz="1100" b="1">
              <a:solidFill>
                <a:srgbClr val="7757E8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544568" y="3118104"/>
            <a:ext cx="3099816" cy="2633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6344A"/>
                </a:solidFill>
                <a:latin typeface="微软雅黑" panose="020B0503020204020204" charset="-122"/>
              </a:rPr>
              <a:t>集中展示代码差异，支持在线代码审查、逐行评论、讨论和持续修改。审核通过后，再将变更合入目标分支。</a:t>
            </a:r>
            <a:endParaRPr sz="1500" b="0">
              <a:solidFill>
                <a:srgbClr val="26344A"/>
              </a:solidFill>
              <a:latin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001000" y="2514600"/>
            <a:ext cx="3502152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02168" y="2697480"/>
            <a:ext cx="786384" cy="310896"/>
          </a:xfrm>
          <a:prstGeom prst="roundRect">
            <a:avLst/>
          </a:prstGeom>
          <a:solidFill>
            <a:srgbClr val="E5F6EF"/>
          </a:solidFill>
          <a:ln w="12700">
            <a:solidFill>
              <a:srgbClr val="E5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02168" y="2697480"/>
            <a:ext cx="786384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3A36D"/>
                </a:solidFill>
                <a:latin typeface="微软雅黑" panose="020B0503020204020204" charset="-122"/>
              </a:rPr>
              <a:t>典型场景</a:t>
            </a:r>
            <a:endParaRPr sz="1100" b="1">
              <a:solidFill>
                <a:srgbClr val="13A36D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202168" y="3118104"/>
            <a:ext cx="3099816" cy="2633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6344A"/>
                </a:solidFill>
                <a:latin typeface="微软雅黑" panose="020B0503020204020204" charset="-122"/>
              </a:rPr>
              <a:t>• 为开源项目贡献代码
• 团队内部控制合入权限
• 在合并前运行测试和质量检查
• 记录决策与审查过程</a:t>
            </a:r>
            <a:endParaRPr sz="1500" b="0">
              <a:solidFill>
                <a:srgbClr val="26344A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94360" y="6537960"/>
            <a:ext cx="530352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758A"/>
                </a:solidFill>
                <a:latin typeface="微软雅黑" panose="020B0503020204020204" charset="-122"/>
              </a:rPr>
              <a:t>GitHub 协作与自动化 · 概念速览</a:t>
            </a:r>
            <a:endParaRPr sz="900" b="0">
              <a:solidFill>
                <a:srgbClr val="66758A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1201400" y="6510528"/>
            <a:ext cx="384048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6758A"/>
                </a:solidFill>
                <a:latin typeface="微软雅黑" panose="020B0503020204020204" charset="-122"/>
              </a:rPr>
              <a:t>02</a:t>
            </a:r>
            <a:endParaRPr sz="900" b="0">
              <a:solidFill>
                <a:srgbClr val="66758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Oval 2"/>
          <p:cNvSpPr/>
          <p:nvPr/>
        </p:nvSpPr>
        <p:spPr>
          <a:xfrm>
            <a:off x="566928" y="347472"/>
            <a:ext cx="475488" cy="475488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475488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02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70432" y="237744"/>
            <a:ext cx="7223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26344A"/>
                </a:solidFill>
                <a:latin typeface="微软雅黑" panose="020B0503020204020204" charset="-122"/>
              </a:rPr>
              <a:t>GitHub 后台 Agent（Actions Runner）</a:t>
            </a:r>
            <a:endParaRPr sz="2600" b="1">
              <a:solidFill>
                <a:srgbClr val="26344A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88720" y="694944"/>
            <a:ext cx="98755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6758A"/>
                </a:solidFill>
                <a:latin typeface="微软雅黑" panose="020B0503020204020204" charset="-122"/>
              </a:rPr>
              <a:t>Runner 是承载 GitHub Actions 工作流的执行程序；可使用官方云端运行器，也可自托管。</a:t>
            </a:r>
            <a:endParaRPr sz="1100" b="0">
              <a:solidFill>
                <a:srgbClr val="66758A"/>
              </a:solidFill>
              <a:latin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94360" y="1078992"/>
            <a:ext cx="11000232" cy="0"/>
          </a:xfrm>
          <a:prstGeom prst="line">
            <a:avLst/>
          </a:prstGeom>
          <a:ln w="1270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187952" y="1417320"/>
            <a:ext cx="3822191" cy="1216152"/>
          </a:xfrm>
          <a:prstGeom prst="roundRect">
            <a:avLst/>
          </a:prstGeom>
          <a:solidFill>
            <a:srgbClr val="F0EDFF"/>
          </a:solidFill>
          <a:ln w="12700">
            <a:solidFill>
              <a:srgbClr val="775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7952" y="1554480"/>
            <a:ext cx="3822191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7757E8"/>
                </a:solidFill>
                <a:latin typeface="Aptos"/>
              </a:rPr>
              <a:t>ACTIONS RUNNER</a:t>
            </a:r>
            <a:endParaRPr sz="1200" b="1">
              <a:solidFill>
                <a:srgbClr val="7757E8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97680" y="1947672"/>
            <a:ext cx="3602736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26344A"/>
                </a:solidFill>
                <a:latin typeface="微软雅黑" panose="020B0503020204020204" charset="-122"/>
              </a:rPr>
              <a:t>领取任务 · 准备环境 · 执行命令</a:t>
            </a:r>
            <a:endParaRPr sz="1700" b="1">
              <a:solidFill>
                <a:srgbClr val="26344A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85800" y="1572768"/>
            <a:ext cx="2331720" cy="82296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682495"/>
            <a:ext cx="205740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6344A"/>
                </a:solidFill>
                <a:latin typeface="微软雅黑" panose="020B0503020204020204" charset="-122"/>
              </a:rPr>
              <a:t>工作流触发</a:t>
            </a:r>
            <a:endParaRPr sz="1500" b="1">
              <a:solidFill>
                <a:srgbClr val="26344A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" y="2029967"/>
            <a:ext cx="205740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6758A"/>
                </a:solidFill>
                <a:latin typeface="微软雅黑" panose="020B0503020204020204" charset="-122"/>
              </a:rPr>
              <a:t>push / PR / 定时</a:t>
            </a:r>
            <a:endParaRPr sz="1100" b="0">
              <a:solidFill>
                <a:srgbClr val="66758A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77240" y="3182112"/>
            <a:ext cx="2450592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91840"/>
            <a:ext cx="2176272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6344A"/>
                </a:solidFill>
                <a:latin typeface="微软雅黑" panose="020B0503020204020204" charset="-122"/>
              </a:rPr>
              <a:t>官方云端运行器</a:t>
            </a:r>
            <a:endParaRPr sz="1500" b="1">
              <a:solidFill>
                <a:srgbClr val="26344A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4400" y="3639312"/>
            <a:ext cx="2176272" cy="5852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6758A"/>
                </a:solidFill>
                <a:latin typeface="微软雅黑" panose="020B0503020204020204" charset="-122"/>
              </a:rPr>
              <a:t>即开即用
由 GitHub 托管</a:t>
            </a:r>
            <a:endParaRPr sz="1100" b="0">
              <a:solidFill>
                <a:srgbClr val="66758A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961120" y="3182112"/>
            <a:ext cx="2450592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3291840"/>
            <a:ext cx="2176272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6344A"/>
                </a:solidFill>
                <a:latin typeface="微软雅黑" panose="020B0503020204020204" charset="-122"/>
              </a:rPr>
              <a:t>自托管 Runner</a:t>
            </a:r>
            <a:endParaRPr sz="1500" b="1">
              <a:solidFill>
                <a:srgbClr val="26344A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8280" y="3639312"/>
            <a:ext cx="2176272" cy="5852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6758A"/>
                </a:solidFill>
                <a:latin typeface="微软雅黑" panose="020B0503020204020204" charset="-122"/>
              </a:rPr>
              <a:t>本地服务器 / 私有机器
自行维护与控制</a:t>
            </a:r>
            <a:endParaRPr sz="1100" b="0">
              <a:solidFill>
                <a:srgbClr val="66758A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187952" y="3675887"/>
            <a:ext cx="3822191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25112" y="3785615"/>
            <a:ext cx="3547872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6344A"/>
                </a:solidFill>
                <a:latin typeface="微软雅黑" panose="020B0503020204020204" charset="-122"/>
              </a:rPr>
              <a:t>输出结果</a:t>
            </a:r>
            <a:endParaRPr sz="1500" b="1">
              <a:solidFill>
                <a:srgbClr val="26344A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25112" y="4133087"/>
            <a:ext cx="3547872" cy="548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6758A"/>
                </a:solidFill>
                <a:latin typeface="微软雅黑" panose="020B0503020204020204" charset="-122"/>
              </a:rPr>
              <a:t>构建产物 · 测试报告 · 部署状态</a:t>
            </a:r>
            <a:endParaRPr sz="1100" b="0">
              <a:solidFill>
                <a:srgbClr val="66758A"/>
              </a:solidFill>
              <a:latin typeface="微软雅黑" panose="020B050302020402020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3017520" y="1984248"/>
            <a:ext cx="1170432" cy="0"/>
          </a:xfrm>
          <a:prstGeom prst="line">
            <a:avLst/>
          </a:prstGeom>
          <a:ln w="3175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099048" y="2633472"/>
            <a:ext cx="0" cy="1042415"/>
          </a:xfrm>
          <a:prstGeom prst="line">
            <a:avLst/>
          </a:prstGeom>
          <a:ln w="31750">
            <a:solidFill>
              <a:srgbClr val="775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3236976" y="2359152"/>
            <a:ext cx="950976" cy="1042416"/>
          </a:xfrm>
          <a:prstGeom prst="line">
            <a:avLst/>
          </a:prstGeom>
          <a:ln w="2540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10144" y="2359152"/>
            <a:ext cx="950976" cy="1042416"/>
          </a:xfrm>
          <a:prstGeom prst="line">
            <a:avLst/>
          </a:prstGeom>
          <a:ln w="2540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85800" y="5166360"/>
            <a:ext cx="10817352" cy="786384"/>
          </a:xfrm>
          <a:prstGeom prst="roundRect">
            <a:avLst/>
          </a:prstGeom>
          <a:solidFill>
            <a:srgbClr val="152238"/>
          </a:solidFill>
          <a:ln w="12700">
            <a:solidFill>
              <a:srgbClr val="15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166360"/>
            <a:ext cx="1097280" cy="7863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AFC2E4"/>
                </a:solidFill>
                <a:latin typeface="微软雅黑" panose="020B0503020204020204" charset="-122"/>
              </a:rPr>
              <a:t>典型任务</a:t>
            </a:r>
            <a:endParaRPr sz="1300" b="1">
              <a:solidFill>
                <a:srgbClr val="AFC2E4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103120" y="5166360"/>
            <a:ext cx="8979408" cy="7863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代码构建   ·   自动化测试   ·   打包制品   ·   部署发布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94360" y="6537960"/>
            <a:ext cx="530352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758A"/>
                </a:solidFill>
                <a:latin typeface="微软雅黑" panose="020B0503020204020204" charset="-122"/>
              </a:rPr>
              <a:t>GitHub 协作与自动化 · 概念速览</a:t>
            </a:r>
            <a:endParaRPr sz="900" b="0">
              <a:solidFill>
                <a:srgbClr val="66758A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201400" y="6510528"/>
            <a:ext cx="384048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6758A"/>
                </a:solidFill>
                <a:latin typeface="微软雅黑" panose="020B0503020204020204" charset="-122"/>
              </a:rPr>
              <a:t>03</a:t>
            </a:r>
            <a:endParaRPr sz="900" b="0">
              <a:solidFill>
                <a:srgbClr val="66758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Oval 2"/>
          <p:cNvSpPr/>
          <p:nvPr/>
        </p:nvSpPr>
        <p:spPr>
          <a:xfrm>
            <a:off x="566928" y="347472"/>
            <a:ext cx="475488" cy="475488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475488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03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70432" y="237744"/>
            <a:ext cx="7223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26344A"/>
                </a:solidFill>
                <a:latin typeface="微软雅黑" panose="020B0503020204020204" charset="-122"/>
              </a:rPr>
              <a:t>GitHub 云端集成</a:t>
            </a:r>
            <a:endParaRPr sz="2600" b="1">
              <a:solidFill>
                <a:srgbClr val="26344A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88720" y="694944"/>
            <a:ext cx="98755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6758A"/>
                </a:solidFill>
                <a:latin typeface="微软雅黑" panose="020B0503020204020204" charset="-122"/>
              </a:rPr>
              <a:t>把 GitHub 与云计算、存储、CI/CD、通知和质量平台连接起来，形成连续交付链路。</a:t>
            </a:r>
            <a:endParaRPr sz="1100" b="0">
              <a:solidFill>
                <a:srgbClr val="66758A"/>
              </a:solidFill>
              <a:latin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94360" y="1078992"/>
            <a:ext cx="11000232" cy="0"/>
          </a:xfrm>
          <a:prstGeom prst="line">
            <a:avLst/>
          </a:prstGeom>
          <a:ln w="1270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4709160" y="2139696"/>
            <a:ext cx="2761488" cy="2761488"/>
          </a:xfrm>
          <a:prstGeom prst="ellipse">
            <a:avLst/>
          </a:prstGeom>
          <a:solidFill>
            <a:srgbClr val="152238"/>
          </a:solidFill>
          <a:ln>
            <a:solidFill>
              <a:srgbClr val="15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523744"/>
            <a:ext cx="2761488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Aptos"/>
              </a:rPr>
              <a:t>GitHub</a:t>
            </a:r>
            <a:endParaRPr sz="2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09160" y="3090672"/>
            <a:ext cx="2761488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B7C5DC"/>
                </a:solidFill>
                <a:latin typeface="微软雅黑" panose="020B0503020204020204" charset="-122"/>
              </a:rPr>
              <a:t>代码与事件中心</a:t>
            </a:r>
            <a:endParaRPr sz="1400" b="0">
              <a:solidFill>
                <a:srgbClr val="B7C5DC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09160" y="3712463"/>
            <a:ext cx="2761488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8FA4C3"/>
                </a:solidFill>
                <a:latin typeface="Aptos"/>
              </a:rPr>
              <a:t>API · Webhook · App</a:t>
            </a:r>
            <a:endParaRPr sz="1200" b="0">
              <a:solidFill>
                <a:srgbClr val="8FA4C3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58368" y="1417320"/>
            <a:ext cx="2798064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59" y="1609344"/>
            <a:ext cx="146304" cy="603504"/>
          </a:xfrm>
          <a:prstGeom prst="roundRect">
            <a:avLst/>
          </a:prstGeom>
          <a:solidFill>
            <a:srgbClr val="2F6BFF"/>
          </a:solidFill>
          <a:ln w="1270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1536192"/>
            <a:ext cx="2194560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F6BFF"/>
                </a:solidFill>
                <a:latin typeface="微软雅黑" panose="020B0503020204020204" charset="-122"/>
              </a:rPr>
              <a:t>云端部署</a:t>
            </a:r>
            <a:endParaRPr sz="1600" b="1">
              <a:solidFill>
                <a:srgbClr val="2F6BFF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97280" y="1911095"/>
            <a:ext cx="219456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6758A"/>
                </a:solidFill>
                <a:latin typeface="微软雅黑" panose="020B0503020204020204" charset="-122"/>
              </a:rPr>
              <a:t>云主机 · 容器 · Serverless</a:t>
            </a:r>
            <a:endParaRPr sz="1100" b="0">
              <a:solidFill>
                <a:srgbClr val="66758A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732520" y="1417320"/>
            <a:ext cx="2798064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897112" y="1609344"/>
            <a:ext cx="146304" cy="603504"/>
          </a:xfrm>
          <a:prstGeom prst="roundRect">
            <a:avLst/>
          </a:prstGeom>
          <a:solidFill>
            <a:srgbClr val="7757E8"/>
          </a:solidFill>
          <a:ln w="12700">
            <a:solidFill>
              <a:srgbClr val="775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71432" y="1536192"/>
            <a:ext cx="2194560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7757E8"/>
                </a:solidFill>
                <a:latin typeface="微软雅黑" panose="020B0503020204020204" charset="-122"/>
              </a:rPr>
              <a:t>通知协作</a:t>
            </a:r>
            <a:endParaRPr sz="1600" b="1">
              <a:solidFill>
                <a:srgbClr val="7757E8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71432" y="1911095"/>
            <a:ext cx="219456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6758A"/>
                </a:solidFill>
                <a:latin typeface="微软雅黑" panose="020B0503020204020204" charset="-122"/>
              </a:rPr>
              <a:t>Slack · 邮件 · 工单</a:t>
            </a:r>
            <a:endParaRPr sz="1100" b="0">
              <a:solidFill>
                <a:srgbClr val="66758A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58368" y="4352544"/>
            <a:ext cx="2798064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59" y="4544568"/>
            <a:ext cx="146304" cy="603504"/>
          </a:xfrm>
          <a:prstGeom prst="roundRect">
            <a:avLst/>
          </a:prstGeom>
          <a:solidFill>
            <a:srgbClr val="F59B42"/>
          </a:solidFill>
          <a:ln w="12700">
            <a:solidFill>
              <a:srgbClr val="F59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471416"/>
            <a:ext cx="2194560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59B42"/>
                </a:solidFill>
                <a:latin typeface="微软雅黑" panose="020B0503020204020204" charset="-122"/>
              </a:rPr>
              <a:t>质量与测试</a:t>
            </a:r>
            <a:endParaRPr sz="1600" b="1">
              <a:solidFill>
                <a:srgbClr val="F59B42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97280" y="4846320"/>
            <a:ext cx="219456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6758A"/>
                </a:solidFill>
                <a:latin typeface="微软雅黑" panose="020B0503020204020204" charset="-122"/>
              </a:rPr>
              <a:t>自动测试 · 安全扫描</a:t>
            </a:r>
            <a:endParaRPr sz="1100" b="0">
              <a:solidFill>
                <a:srgbClr val="66758A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732520" y="4352544"/>
            <a:ext cx="2798064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97112" y="4544568"/>
            <a:ext cx="146304" cy="603504"/>
          </a:xfrm>
          <a:prstGeom prst="roundRect">
            <a:avLst/>
          </a:prstGeom>
          <a:solidFill>
            <a:srgbClr val="13A36D"/>
          </a:solidFill>
          <a:ln w="12700">
            <a:solidFill>
              <a:srgbClr val="13A3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71432" y="4471416"/>
            <a:ext cx="2194560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3A36D"/>
                </a:solidFill>
                <a:latin typeface="微软雅黑" panose="020B0503020204020204" charset="-122"/>
              </a:rPr>
              <a:t>存储与制品</a:t>
            </a:r>
            <a:endParaRPr sz="1600" b="1">
              <a:solidFill>
                <a:srgbClr val="13A36D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171432" y="4846320"/>
            <a:ext cx="219456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6758A"/>
                </a:solidFill>
                <a:latin typeface="微软雅黑" panose="020B0503020204020204" charset="-122"/>
              </a:rPr>
              <a:t>镜像 · 包 · 构建产物</a:t>
            </a:r>
            <a:endParaRPr sz="1100" b="0">
              <a:solidFill>
                <a:srgbClr val="66758A"/>
              </a:solidFill>
              <a:latin typeface="微软雅黑" panose="020B0503020204020204" charset="-122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3456432" y="1901952"/>
            <a:ext cx="1435608" cy="859536"/>
          </a:xfrm>
          <a:prstGeom prst="line">
            <a:avLst/>
          </a:prstGeom>
          <a:ln w="254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7287768" y="1901952"/>
            <a:ext cx="1444752" cy="859536"/>
          </a:xfrm>
          <a:prstGeom prst="line">
            <a:avLst/>
          </a:prstGeom>
          <a:ln w="25400">
            <a:solidFill>
              <a:srgbClr val="775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456432" y="4251960"/>
            <a:ext cx="1435608" cy="594360"/>
          </a:xfrm>
          <a:prstGeom prst="line">
            <a:avLst/>
          </a:prstGeom>
          <a:ln w="25400">
            <a:solidFill>
              <a:srgbClr val="F59B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7287768" y="4251960"/>
            <a:ext cx="1444752" cy="594360"/>
          </a:xfrm>
          <a:prstGeom prst="line">
            <a:avLst/>
          </a:prstGeom>
          <a:ln w="25400">
            <a:solidFill>
              <a:srgbClr val="13A3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886200" y="5349240"/>
            <a:ext cx="4416552" cy="603504"/>
          </a:xfrm>
          <a:prstGeom prst="roundRect">
            <a:avLst/>
          </a:prstGeom>
          <a:solidFill>
            <a:srgbClr val="E5F6EF"/>
          </a:solidFill>
          <a:ln w="12700">
            <a:solidFill>
              <a:srgbClr val="E5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86200" y="5349240"/>
            <a:ext cx="4416552" cy="60350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3A36D"/>
                </a:solidFill>
                <a:latin typeface="微软雅黑" panose="020B0503020204020204" charset="-122"/>
              </a:rPr>
              <a:t>提交代码后：自动构建 → 测试 → 部署 → 通知</a:t>
            </a:r>
            <a:endParaRPr sz="1400" b="1">
              <a:solidFill>
                <a:srgbClr val="13A36D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94360" y="6537960"/>
            <a:ext cx="530352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758A"/>
                </a:solidFill>
                <a:latin typeface="微软雅黑" panose="020B0503020204020204" charset="-122"/>
              </a:rPr>
              <a:t>GitHub 协作与自动化 · 概念速览</a:t>
            </a:r>
            <a:endParaRPr sz="900" b="0">
              <a:solidFill>
                <a:srgbClr val="66758A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1201400" y="6510528"/>
            <a:ext cx="384048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6758A"/>
                </a:solidFill>
                <a:latin typeface="微软雅黑" panose="020B0503020204020204" charset="-122"/>
              </a:rPr>
              <a:t>04</a:t>
            </a:r>
            <a:endParaRPr sz="900" b="0">
              <a:solidFill>
                <a:srgbClr val="66758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Oval 2"/>
          <p:cNvSpPr/>
          <p:nvPr/>
        </p:nvSpPr>
        <p:spPr>
          <a:xfrm>
            <a:off x="566928" y="347472"/>
            <a:ext cx="475488" cy="475488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475488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04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70432" y="237744"/>
            <a:ext cx="7223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26344A"/>
                </a:solidFill>
                <a:latin typeface="微软雅黑" panose="020B0503020204020204" charset="-122"/>
              </a:rPr>
              <a:t>三者如何协同</a:t>
            </a:r>
            <a:endParaRPr sz="2600" b="1">
              <a:solidFill>
                <a:srgbClr val="26344A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88720" y="694944"/>
            <a:ext cx="98755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6758A"/>
                </a:solidFill>
                <a:latin typeface="微软雅黑" panose="020B0503020204020204" charset="-122"/>
              </a:rPr>
              <a:t>PR 管理“是否合并”，Runner 负责“在哪里执行”，云端集成决定“连接哪些外部能力”。</a:t>
            </a:r>
            <a:endParaRPr sz="1100" b="0">
              <a:solidFill>
                <a:srgbClr val="66758A"/>
              </a:solidFill>
              <a:latin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94360" y="1078992"/>
            <a:ext cx="11000232" cy="0"/>
          </a:xfrm>
          <a:prstGeom prst="line">
            <a:avLst/>
          </a:prstGeom>
          <a:ln w="12700">
            <a:solidFill>
              <a:srgbClr val="DC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66928" y="1444752"/>
            <a:ext cx="1856231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25295" y="1216152"/>
            <a:ext cx="530352" cy="530352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25295" y="1216152"/>
            <a:ext cx="530352" cy="53035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3232" y="1847088"/>
            <a:ext cx="1563624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6344A"/>
                </a:solidFill>
                <a:latin typeface="微软雅黑" panose="020B0503020204020204" charset="-122"/>
              </a:rPr>
              <a:t>提交代码</a:t>
            </a:r>
            <a:endParaRPr sz="1600" b="1">
              <a:solidFill>
                <a:srgbClr val="26344A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3232" y="2276856"/>
            <a:ext cx="1563624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6758A"/>
                </a:solidFill>
                <a:latin typeface="微软雅黑" panose="020B0503020204020204" charset="-122"/>
              </a:rPr>
              <a:t>开发者推送分支</a:t>
            </a:r>
            <a:endParaRPr sz="1100" b="0">
              <a:solidFill>
                <a:srgbClr val="66758A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32304" y="1792224"/>
            <a:ext cx="438912" cy="4937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66758A"/>
                </a:solidFill>
                <a:latin typeface="微软雅黑" panose="020B0503020204020204" charset="-122"/>
              </a:rPr>
              <a:t>→</a:t>
            </a:r>
            <a:endParaRPr sz="2200" b="1">
              <a:solidFill>
                <a:srgbClr val="66758A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871216" y="1444752"/>
            <a:ext cx="1856231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9584" y="1216152"/>
            <a:ext cx="530352" cy="530352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1216152"/>
            <a:ext cx="530352" cy="53035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017520" y="1847088"/>
            <a:ext cx="1563624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6344A"/>
                </a:solidFill>
                <a:latin typeface="微软雅黑" panose="020B0503020204020204" charset="-122"/>
              </a:rPr>
              <a:t>PR 审查</a:t>
            </a:r>
            <a:endParaRPr sz="1600" b="1">
              <a:solidFill>
                <a:srgbClr val="26344A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017520" y="2276856"/>
            <a:ext cx="1563624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6758A"/>
                </a:solidFill>
                <a:latin typeface="微软雅黑" panose="020B0503020204020204" charset="-122"/>
              </a:rPr>
              <a:t>讨论、测试、批准</a:t>
            </a:r>
            <a:endParaRPr sz="1100" b="0">
              <a:solidFill>
                <a:srgbClr val="66758A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736592" y="1792224"/>
            <a:ext cx="438912" cy="4937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66758A"/>
                </a:solidFill>
                <a:latin typeface="微软雅黑" panose="020B0503020204020204" charset="-122"/>
              </a:rPr>
              <a:t>→</a:t>
            </a:r>
            <a:endParaRPr sz="2200" b="1">
              <a:solidFill>
                <a:srgbClr val="66758A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175504" y="1444752"/>
            <a:ext cx="1856231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33872" y="1216152"/>
            <a:ext cx="530352" cy="530352"/>
          </a:xfrm>
          <a:prstGeom prst="ellipse">
            <a:avLst/>
          </a:prstGeom>
          <a:solidFill>
            <a:srgbClr val="775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33872" y="1216152"/>
            <a:ext cx="530352" cy="53035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321808" y="1847088"/>
            <a:ext cx="1563624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6344A"/>
                </a:solidFill>
                <a:latin typeface="微软雅黑" panose="020B0503020204020204" charset="-122"/>
              </a:rPr>
              <a:t>Runner 执行</a:t>
            </a:r>
            <a:endParaRPr sz="1600" b="1">
              <a:solidFill>
                <a:srgbClr val="26344A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321808" y="2276856"/>
            <a:ext cx="1563624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6758A"/>
                </a:solidFill>
                <a:latin typeface="微软雅黑" panose="020B0503020204020204" charset="-122"/>
              </a:rPr>
              <a:t>构建、测试、打包</a:t>
            </a:r>
            <a:endParaRPr sz="1100" b="0">
              <a:solidFill>
                <a:srgbClr val="66758A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040880" y="1792224"/>
            <a:ext cx="438912" cy="4937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66758A"/>
                </a:solidFill>
                <a:latin typeface="微软雅黑" panose="020B0503020204020204" charset="-122"/>
              </a:rPr>
              <a:t>→</a:t>
            </a:r>
            <a:endParaRPr sz="2200" b="1">
              <a:solidFill>
                <a:srgbClr val="66758A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479792" y="1444752"/>
            <a:ext cx="1856231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138160" y="1216152"/>
            <a:ext cx="530352" cy="530352"/>
          </a:xfrm>
          <a:prstGeom prst="ellipse">
            <a:avLst/>
          </a:prstGeom>
          <a:solidFill>
            <a:srgbClr val="13A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1216152"/>
            <a:ext cx="530352" cy="53035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4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626096" y="1847088"/>
            <a:ext cx="1563624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6344A"/>
                </a:solidFill>
                <a:latin typeface="微软雅黑" panose="020B0503020204020204" charset="-122"/>
              </a:rPr>
              <a:t>云端集成</a:t>
            </a:r>
            <a:endParaRPr sz="1600" b="1">
              <a:solidFill>
                <a:srgbClr val="26344A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626096" y="2276856"/>
            <a:ext cx="1563624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6758A"/>
                </a:solidFill>
                <a:latin typeface="微软雅黑" panose="020B0503020204020204" charset="-122"/>
              </a:rPr>
              <a:t>部署、通知、存储</a:t>
            </a:r>
            <a:endParaRPr sz="1100" b="0">
              <a:solidFill>
                <a:srgbClr val="66758A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345167" y="1792224"/>
            <a:ext cx="438912" cy="4937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66758A"/>
                </a:solidFill>
                <a:latin typeface="微软雅黑" panose="020B0503020204020204" charset="-122"/>
              </a:rPr>
              <a:t>→</a:t>
            </a:r>
            <a:endParaRPr sz="2200" b="1">
              <a:solidFill>
                <a:srgbClr val="66758A"/>
              </a:solidFill>
              <a:latin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784080" y="1444752"/>
            <a:ext cx="1856231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442448" y="1216152"/>
            <a:ext cx="530352" cy="530352"/>
          </a:xfrm>
          <a:prstGeom prst="ellipse">
            <a:avLst/>
          </a:prstGeom>
          <a:solidFill>
            <a:srgbClr val="13A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42448" y="1216152"/>
            <a:ext cx="530352" cy="53035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5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930384" y="1847088"/>
            <a:ext cx="1563624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6344A"/>
                </a:solidFill>
                <a:latin typeface="微软雅黑" panose="020B0503020204020204" charset="-122"/>
              </a:rPr>
              <a:t>交付上线</a:t>
            </a:r>
            <a:endParaRPr sz="1600" b="1">
              <a:solidFill>
                <a:srgbClr val="26344A"/>
              </a:solidFill>
              <a:latin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930384" y="2276856"/>
            <a:ext cx="1563624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6758A"/>
                </a:solidFill>
                <a:latin typeface="微软雅黑" panose="020B0503020204020204" charset="-122"/>
              </a:rPr>
              <a:t>反馈状态与结果</a:t>
            </a:r>
            <a:endParaRPr sz="1100" b="0">
              <a:solidFill>
                <a:srgbClr val="66758A"/>
              </a:solidFill>
              <a:latin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21792" y="3456432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26344A"/>
                </a:solidFill>
                <a:latin typeface="微软雅黑" panose="020B0503020204020204" charset="-122"/>
              </a:rPr>
              <a:t>快速区分</a:t>
            </a:r>
            <a:endParaRPr sz="2000" b="1">
              <a:solidFill>
                <a:srgbClr val="26344A"/>
              </a:solidFill>
              <a:latin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621792" y="3977639"/>
            <a:ext cx="109270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04672" y="4087368"/>
            <a:ext cx="1207008" cy="329184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" y="4087368"/>
            <a:ext cx="1207008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2F6BFF"/>
                </a:solidFill>
                <a:latin typeface="微软雅黑" panose="020B0503020204020204" charset="-122"/>
              </a:rPr>
              <a:t>PR</a:t>
            </a:r>
            <a:endParaRPr sz="1200" b="1">
              <a:solidFill>
                <a:srgbClr val="2F6BFF"/>
              </a:solidFill>
              <a:latin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267712" y="4050791"/>
            <a:ext cx="1417320" cy="40233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6344A"/>
                </a:solidFill>
                <a:latin typeface="微软雅黑" panose="020B0503020204020204" charset="-122"/>
              </a:rPr>
              <a:t>协作机制</a:t>
            </a:r>
            <a:endParaRPr sz="1400" b="1">
              <a:solidFill>
                <a:srgbClr val="26344A"/>
              </a:solidFill>
              <a:latin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913632" y="4050791"/>
            <a:ext cx="7223760" cy="40233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6758A"/>
                </a:solidFill>
                <a:latin typeface="微软雅黑" panose="020B0503020204020204" charset="-122"/>
              </a:rPr>
              <a:t>让代码变更可审查、可讨论、可批准</a:t>
            </a:r>
            <a:endParaRPr sz="1300" b="0">
              <a:solidFill>
                <a:srgbClr val="66758A"/>
              </a:solidFill>
              <a:latin typeface="微软雅黑" panose="020B0503020204020204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21792" y="4672583"/>
            <a:ext cx="109270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04672" y="4782312"/>
            <a:ext cx="1207008" cy="329184"/>
          </a:xfrm>
          <a:prstGeom prst="roundRect">
            <a:avLst/>
          </a:prstGeom>
          <a:solidFill>
            <a:srgbClr val="F0EDFF"/>
          </a:solidFill>
          <a:ln w="1270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2" y="4782312"/>
            <a:ext cx="1207008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7757E8"/>
                </a:solidFill>
                <a:latin typeface="微软雅黑" panose="020B0503020204020204" charset="-122"/>
              </a:rPr>
              <a:t>Runner</a:t>
            </a:r>
            <a:endParaRPr sz="1200" b="1">
              <a:solidFill>
                <a:srgbClr val="7757E8"/>
              </a:solidFill>
              <a:latin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267712" y="4745736"/>
            <a:ext cx="1417320" cy="40233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6344A"/>
                </a:solidFill>
                <a:latin typeface="微软雅黑" panose="020B0503020204020204" charset="-122"/>
              </a:rPr>
              <a:t>执行载体</a:t>
            </a:r>
            <a:endParaRPr sz="1400" b="1">
              <a:solidFill>
                <a:srgbClr val="26344A"/>
              </a:solidFill>
              <a:latin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913632" y="4745736"/>
            <a:ext cx="7223760" cy="40233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6758A"/>
                </a:solidFill>
                <a:latin typeface="微软雅黑" panose="020B0503020204020204" charset="-122"/>
              </a:rPr>
              <a:t>实际运行工作流中的命令与任务</a:t>
            </a:r>
            <a:endParaRPr sz="1300" b="0">
              <a:solidFill>
                <a:srgbClr val="66758A"/>
              </a:solidFill>
              <a:latin typeface="微软雅黑" panose="020B0503020204020204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621792" y="5367527"/>
            <a:ext cx="109270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04672" y="5477255"/>
            <a:ext cx="1207008" cy="329184"/>
          </a:xfrm>
          <a:prstGeom prst="roundRect">
            <a:avLst/>
          </a:prstGeom>
          <a:solidFill>
            <a:srgbClr val="E5F6EF"/>
          </a:solidFill>
          <a:ln w="12700">
            <a:solidFill>
              <a:srgbClr val="E5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4672" y="5477255"/>
            <a:ext cx="1207008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3A36D"/>
                </a:solidFill>
                <a:latin typeface="微软雅黑" panose="020B0503020204020204" charset="-122"/>
              </a:rPr>
              <a:t>云端集成</a:t>
            </a:r>
            <a:endParaRPr sz="1200" b="1">
              <a:solidFill>
                <a:srgbClr val="13A36D"/>
              </a:solidFill>
              <a:latin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267712" y="5440679"/>
            <a:ext cx="1417320" cy="40233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6344A"/>
                </a:solidFill>
                <a:latin typeface="微软雅黑" panose="020B0503020204020204" charset="-122"/>
              </a:rPr>
              <a:t>连接能力</a:t>
            </a:r>
            <a:endParaRPr sz="1400" b="1">
              <a:solidFill>
                <a:srgbClr val="26344A"/>
              </a:solidFill>
              <a:latin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913632" y="5440679"/>
            <a:ext cx="7223760" cy="40233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6758A"/>
                </a:solidFill>
                <a:latin typeface="微软雅黑" panose="020B0503020204020204" charset="-122"/>
              </a:rPr>
              <a:t>把 GitHub 事件与外部云服务串联</a:t>
            </a:r>
            <a:endParaRPr sz="1300" b="0">
              <a:solidFill>
                <a:srgbClr val="66758A"/>
              </a:solidFill>
              <a:latin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94360" y="6537960"/>
            <a:ext cx="530352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758A"/>
                </a:solidFill>
                <a:latin typeface="微软雅黑" panose="020B0503020204020204" charset="-122"/>
              </a:rPr>
              <a:t>GitHub 协作与自动化 · 概念速览</a:t>
            </a:r>
            <a:endParaRPr sz="900" b="0">
              <a:solidFill>
                <a:srgbClr val="66758A"/>
              </a:solidFill>
              <a:latin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1201400" y="6510528"/>
            <a:ext cx="384048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6758A"/>
                </a:solidFill>
                <a:latin typeface="微软雅黑" panose="020B0503020204020204" charset="-122"/>
              </a:rPr>
              <a:t>05</a:t>
            </a:r>
            <a:endParaRPr sz="900" b="0">
              <a:solidFill>
                <a:srgbClr val="66758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1134</Words>
  <Application>WPS 演示</Application>
  <PresentationFormat>On-screen Show (4:3)</PresentationFormat>
  <Paragraphs>204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宋体</vt:lpstr>
      <vt:lpstr>Wingdings</vt:lpstr>
      <vt:lpstr>Arial</vt:lpstr>
      <vt:lpstr>Aptos</vt:lpstr>
      <vt:lpstr>Segoe UI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三大核心概念</dc:title>
  <dc:creator>PPT-Producer</dc:creator>
  <dc:description>generated using python-pptx</dc:description>
  <dc:subject>Pull Request、Actions Runner 与云端集成</dc:subject>
  <cp:lastModifiedBy>ATLS.空空</cp:lastModifiedBy>
  <cp:revision>2</cp:revision>
  <dcterms:created xsi:type="dcterms:W3CDTF">2013-01-27T09:14:00Z</dcterms:created>
  <dcterms:modified xsi:type="dcterms:W3CDTF">2026-08-18T19:07:48Z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4D1CF89089EF48F69D62D92889BA8AA8_12</vt:lpwstr>
  </property>
</Properties>
</file>