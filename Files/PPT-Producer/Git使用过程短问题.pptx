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508760" cy="329184"/>
          </a:xfrm>
          <a:prstGeom prst="roundRect">
            <a:avLst/>
          </a:prstGeom>
          <a:solidFill>
            <a:srgbClr val="223753"/>
          </a:solidFill>
          <a:ln w="12700">
            <a:solidFill>
              <a:srgbClr val="22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508760" cy="32918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DC0DD"/>
                </a:solidFill>
                <a:latin typeface="Aptos"/>
              </a:rPr>
              <a:t>GIT · QUICK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26464"/>
            <a:ext cx="8321040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Git 使用过程短问题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C6DC"/>
                </a:solidFill>
                <a:latin typeface="Microsoft YaHei"/>
              </a:rPr>
              <a:t>记录在 GitHub 使用过程中遇到的常见疑问与处理方法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18688"/>
            <a:ext cx="2395728" cy="1481328"/>
          </a:xfrm>
          <a:prstGeom prst="roundRect">
            <a:avLst/>
          </a:prstGeom>
          <a:solidFill>
            <a:srgbClr val="20324C"/>
          </a:solidFill>
          <a:ln w="12700">
            <a:solidFill>
              <a:srgbClr val="3B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429000"/>
            <a:ext cx="457200" cy="45720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45720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201168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PR 与分支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3218688"/>
            <a:ext cx="2395728" cy="1481328"/>
          </a:xfrm>
          <a:prstGeom prst="roundRect">
            <a:avLst/>
          </a:prstGeom>
          <a:solidFill>
            <a:srgbClr val="20324C"/>
          </a:solidFill>
          <a:ln w="12700">
            <a:solidFill>
              <a:srgbClr val="3B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75887" y="3429000"/>
            <a:ext cx="457200" cy="457200"/>
          </a:xfrm>
          <a:prstGeom prst="roundRect">
            <a:avLst/>
          </a:prstGeom>
          <a:solidFill>
            <a:srgbClr val="7757E8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3429000"/>
            <a:ext cx="45720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4069080"/>
            <a:ext cx="201168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二进制文件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3218688"/>
            <a:ext cx="2395728" cy="1481328"/>
          </a:xfrm>
          <a:prstGeom prst="roundRect">
            <a:avLst/>
          </a:prstGeom>
          <a:solidFill>
            <a:srgbClr val="20324C"/>
          </a:solidFill>
          <a:ln w="12700">
            <a:solidFill>
              <a:srgbClr val="3B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83096" y="3429000"/>
            <a:ext cx="457200" cy="457200"/>
          </a:xfrm>
          <a:prstGeom prst="roundRect">
            <a:avLst/>
          </a:prstGeom>
          <a:solidFill>
            <a:srgbClr val="E8872E"/>
          </a:solidFill>
          <a:ln w="12700">
            <a:solidFill>
              <a:srgbClr val="E88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3429000"/>
            <a:ext cx="45720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4069080"/>
            <a:ext cx="201168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替换 PPTX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3218688"/>
            <a:ext cx="2395728" cy="1481328"/>
          </a:xfrm>
          <a:prstGeom prst="roundRect">
            <a:avLst/>
          </a:prstGeom>
          <a:solidFill>
            <a:srgbClr val="20324C"/>
          </a:solidFill>
          <a:ln w="12700">
            <a:solidFill>
              <a:srgbClr val="3B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90304" y="3429000"/>
            <a:ext cx="457200" cy="457200"/>
          </a:xfrm>
          <a:prstGeom prst="roundRect">
            <a:avLst/>
          </a:prstGeom>
          <a:solidFill>
            <a:srgbClr val="15966A"/>
          </a:solidFill>
          <a:ln w="1270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3429000"/>
            <a:ext cx="45720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4069080"/>
            <a:ext cx="201168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提交差异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245352"/>
            <a:ext cx="4114800" cy="2286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EA2C1"/>
                </a:solidFill>
                <a:latin typeface="Microsoft YaHei"/>
              </a:rPr>
              <a:t>个人 GitHub 操作备忘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493776" cy="49377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784080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4324A"/>
                </a:solidFill>
                <a:latin typeface="Microsoft YaHei"/>
              </a:rPr>
              <a:t>PR 不合并，是否还能继续修改？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713232"/>
            <a:ext cx="987552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PR 是合并申请；真正承载文件变更的是来源分支。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34015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572768"/>
            <a:ext cx="822960" cy="34747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5966A"/>
                </a:solidFill>
                <a:latin typeface="Microsoft YaHei"/>
              </a:rPr>
              <a:t>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48256"/>
            <a:ext cx="2962656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可以。只要来源分支仍存在，就能继续修改、提交和推送；现有 PR 会自动同步这些更新。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89888"/>
            <a:ext cx="34015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1572768"/>
            <a:ext cx="822960" cy="347472"/>
          </a:xfrm>
          <a:prstGeom prst="roundRect">
            <a:avLst/>
          </a:prstGeom>
          <a:solidFill>
            <a:srgbClr val="FFF1E3"/>
          </a:solidFill>
          <a:ln w="12700">
            <a:solidFill>
              <a:srgbClr val="FFF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7276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8872E"/>
                </a:solidFill>
                <a:latin typeface="Microsoft YaHei"/>
              </a:rPr>
              <a:t>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048256"/>
            <a:ext cx="2962656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关闭浏览器不等于关闭 PR。只有主动点击“Close pull request”，PR 才会被关闭。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389888"/>
            <a:ext cx="34015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572768"/>
            <a:ext cx="822960" cy="34747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048256"/>
            <a:ext cx="2962656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修改期间保留为 Draft；全部定稿后再合并。个人存档可使用 Squash and merge。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95928"/>
            <a:ext cx="1874519" cy="1143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3"/>
            <a:ext cx="1874519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功能分支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874519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持续修改文件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4270248"/>
            <a:ext cx="658368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B778C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3995928"/>
            <a:ext cx="1874519" cy="1143000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4169663"/>
            <a:ext cx="1874519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7757E8"/>
                </a:solidFill>
                <a:latin typeface="Microsoft YaHei"/>
              </a:rPr>
              <a:t>Pull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572000"/>
            <a:ext cx="1874519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自动显示更新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1" y="4270248"/>
            <a:ext cx="658368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B778C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995928"/>
            <a:ext cx="1874519" cy="1143000"/>
          </a:xfrm>
          <a:prstGeom prst="roundRect">
            <a:avLst/>
          </a:prstGeom>
          <a:solidFill>
            <a:srgbClr val="FFF1E3"/>
          </a:solidFill>
          <a:ln w="12700">
            <a:solidFill>
              <a:srgbClr val="FFF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169663"/>
            <a:ext cx="1874519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8872E"/>
                </a:solidFill>
                <a:latin typeface="Microsoft YaHei"/>
              </a:rPr>
              <a:t>审核 / 定稿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72000"/>
            <a:ext cx="1874519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确认最终内容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4270248"/>
            <a:ext cx="658368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B778C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995928"/>
            <a:ext cx="1874519" cy="1143000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169663"/>
            <a:ext cx="1874519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5966A"/>
                </a:solidFill>
                <a:latin typeface="Microsoft YaHei"/>
              </a:rPr>
              <a:t>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572000"/>
            <a:ext cx="1874519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合并后正式保存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6519672"/>
            <a:ext cx="2743200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Git 使用过程短问题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10528"/>
            <a:ext cx="438912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493776" cy="49377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784080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4324A"/>
                </a:solidFill>
                <a:latin typeface="Microsoft YaHei"/>
              </a:rPr>
              <a:t>“Binary file not shown”是什么意思？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713232"/>
            <a:ext cx="987552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GitHub 可以保存二进制文件，但无法像文本代码一样逐行展示差异。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89888"/>
            <a:ext cx="3703320" cy="4370832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47672"/>
            <a:ext cx="2980944" cy="10972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Binary file
not shown.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926080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B8C6DC"/>
                </a:solidFill>
                <a:latin typeface="Microsoft YaHei"/>
              </a:rPr>
              <a:t>无法显示内容差异
≠
文件不存在或损坏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89888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6048" y="1572768"/>
            <a:ext cx="822960" cy="34747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57276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757E8"/>
                </a:solidFill>
                <a:latin typeface="Microsoft YaHei"/>
              </a:rPr>
              <a:t>常见类型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048256"/>
            <a:ext cx="2715768" cy="11887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PPTX、DOCX、PNG、JPG、ZIP 等文件通常属于二进制文件。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389888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572768"/>
            <a:ext cx="822960" cy="34747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7276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5966A"/>
                </a:solidFill>
                <a:latin typeface="Microsoft YaHei"/>
              </a:rPr>
              <a:t>仍可操作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048256"/>
            <a:ext cx="2715768" cy="11887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仍然可以下载、删除、替换、提交和合并，只是 GitHub 不提供逐行预览。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703320"/>
            <a:ext cx="66111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56048" y="3886200"/>
            <a:ext cx="822960" cy="34747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3886200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PPT 修改方式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4361688"/>
            <a:ext cx="6172200" cy="12344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先下载并在 WPS 中编辑，再切换到正确分支和文件夹，使用 Add file → Upload files 上传同名文件进行替换。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519672"/>
            <a:ext cx="2743200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Git 使用过程短问题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10528"/>
            <a:ext cx="438912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493776" cy="49377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784080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4324A"/>
                </a:solidFill>
                <a:latin typeface="Microsoft YaHei"/>
              </a:rPr>
              <a:t>如何替换已修改的 PPTX？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713232"/>
            <a:ext cx="987552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关键是选择正确分支、保持路径和文件名一致，并提交到 PR 的来源分支。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286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1298448"/>
            <a:ext cx="676656" cy="67665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1298448"/>
            <a:ext cx="676656" cy="67665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39696"/>
            <a:ext cx="192024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F6BFF"/>
                </a:solidFill>
                <a:latin typeface="Microsoft YaHei"/>
              </a:rPr>
              <a:t>选择分支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60904"/>
            <a:ext cx="1883664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78C"/>
                </a:solidFill>
                <a:latin typeface="Microsoft YaHei"/>
              </a:rPr>
              <a:t>切换到 PR 的来源分支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185416"/>
            <a:ext cx="530352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6B778C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508760"/>
            <a:ext cx="2286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15968" y="1298448"/>
            <a:ext cx="676656" cy="676656"/>
          </a:xfrm>
          <a:prstGeom prst="ellipse">
            <a:avLst/>
          </a:prstGeom>
          <a:solidFill>
            <a:srgbClr val="77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298448"/>
            <a:ext cx="676656" cy="67665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139696"/>
            <a:ext cx="192024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7757E8"/>
                </a:solidFill>
                <a:latin typeface="Microsoft YaHei"/>
              </a:rPr>
              <a:t>进入目录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2660904"/>
            <a:ext cx="1883664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78C"/>
                </a:solidFill>
                <a:latin typeface="Microsoft YaHei"/>
              </a:rPr>
              <a:t>打开 PPT 所在文件夹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85416"/>
            <a:ext cx="530352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6B778C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1508760"/>
            <a:ext cx="2286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87184" y="1298448"/>
            <a:ext cx="676656" cy="676656"/>
          </a:xfrm>
          <a:prstGeom prst="ellipse">
            <a:avLst/>
          </a:prstGeom>
          <a:solidFill>
            <a:srgbClr val="E88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1298448"/>
            <a:ext cx="676656" cy="67665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139696"/>
            <a:ext cx="192024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E8872E"/>
                </a:solidFill>
                <a:latin typeface="Microsoft YaHei"/>
              </a:rPr>
              <a:t>上传同名文件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60904"/>
            <a:ext cx="1883664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78C"/>
                </a:solidFill>
                <a:latin typeface="Microsoft YaHei"/>
              </a:rPr>
              <a:t>Add file → Upload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185416"/>
            <a:ext cx="530352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6B778C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3728" y="1508760"/>
            <a:ext cx="2286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0" y="1298448"/>
            <a:ext cx="676656" cy="676656"/>
          </a:xfrm>
          <a:prstGeom prst="ellipse">
            <a:avLst/>
          </a:prstGeom>
          <a:solidFill>
            <a:srgbClr val="1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298448"/>
            <a:ext cx="676656" cy="67665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7" y="2139696"/>
            <a:ext cx="192024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5966A"/>
                </a:solidFill>
                <a:latin typeface="Microsoft YaHei"/>
              </a:rPr>
              <a:t>提交更改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660904"/>
            <a:ext cx="1883664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78C"/>
                </a:solidFill>
                <a:latin typeface="Microsoft YaHei"/>
              </a:rPr>
              <a:t>Commit 到当前分支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33087"/>
            <a:ext cx="10899648" cy="123444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43400"/>
            <a:ext cx="1572768" cy="320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4A4A"/>
                </a:solidFill>
                <a:latin typeface="Microsoft YaHei"/>
              </a:rPr>
              <a:t>避免这三个错误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233672"/>
            <a:ext cx="8183879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324A"/>
                </a:solidFill>
                <a:latin typeface="Microsoft YaHei"/>
              </a:rPr>
              <a:t>① 提交到 main　　② 文件名出现“(1)”　　③ 上传到错误文件夹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19472"/>
            <a:ext cx="969264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78C"/>
                </a:solidFill>
                <a:latin typeface="Microsoft YaHei"/>
              </a:rPr>
              <a:t>上传成功后，现有 PR 会自动增加一个新提交并显示最新文件。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6519672"/>
            <a:ext cx="2743200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Git 使用过程短问题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10528"/>
            <a:ext cx="438912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493776" cy="49377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784080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4324A"/>
                </a:solidFill>
                <a:latin typeface="Microsoft YaHei"/>
              </a:rPr>
              <a:t>Branches 是不是类似硬盘分区？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713232"/>
            <a:ext cx="987552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分支不是物理分区，而是同一仓库中指向不同提交历史的平行版本线。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81328"/>
            <a:ext cx="2880360" cy="425196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377440" cy="40233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377440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8C6DC"/>
                </a:solidFill>
                <a:latin typeface="Microsoft YaHei"/>
              </a:rPr>
              <a:t>同一套文件与历史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980944"/>
            <a:ext cx="2121408" cy="676656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80944"/>
            <a:ext cx="2121408" cy="67665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087368"/>
            <a:ext cx="2121408" cy="896112"/>
          </a:xfrm>
          <a:prstGeom prst="roundRect">
            <a:avLst/>
          </a:prstGeom>
          <a:solidFill>
            <a:srgbClr val="7757E8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87368"/>
            <a:ext cx="2121408" cy="8961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feature branch
含未合并的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1481328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664208"/>
            <a:ext cx="822960" cy="34747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66420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为什么 main 看不到？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139696"/>
            <a:ext cx="2990088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PPT 只存在于功能分支，尚未合并到 main。切换分支后，仓库文件视图会随之变化。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1481328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1664208"/>
            <a:ext cx="822960" cy="34747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6" y="1664208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5966A"/>
                </a:solidFill>
                <a:latin typeface="Microsoft YaHei"/>
              </a:rPr>
              <a:t>合并后会怎样？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2139696"/>
            <a:ext cx="2990088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PR 合并后，功能分支的最终内容进入 main，主分支页面才会显示这些文件。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5072" y="3803904"/>
            <a:ext cx="7214616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3986784"/>
            <a:ext cx="822960" cy="34747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86784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757E8"/>
                </a:solidFill>
                <a:latin typeface="Microsoft YaHei"/>
              </a:rPr>
              <a:t>简单理解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4462272"/>
            <a:ext cx="6775704" cy="11064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分支更像“同一文档的平行版本”，不是把硬盘切成多个空间。每个分支都记录自己当前指向的版本。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19672"/>
            <a:ext cx="2743200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Git 使用过程短问题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10528"/>
            <a:ext cx="438912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493776" cy="49377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493776" cy="49377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784080" cy="411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4324A"/>
                </a:solidFill>
                <a:latin typeface="Microsoft YaHei"/>
              </a:rPr>
              <a:t>“166 commits ahead”是什么意思？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713232"/>
            <a:ext cx="987552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78C"/>
                </a:solidFill>
                <a:latin typeface="Microsoft YaHei"/>
              </a:rPr>
              <a:t>ahead 描述的是提交历史差异，不是文件数量，也不是错误提示。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6-commits-a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3312"/>
            <a:ext cx="10835640" cy="12402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2724912"/>
            <a:ext cx="34015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907792"/>
            <a:ext cx="822960" cy="34747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07792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中文含义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383280"/>
            <a:ext cx="2962656" cy="1600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当前分支比 LeonYanghaha/pua-books 的 master 分支领先 166 个提交。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724912"/>
            <a:ext cx="34015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2907792"/>
            <a:ext cx="822960" cy="34747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907792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757E8"/>
                </a:solidFill>
                <a:latin typeface="Microsoft YaHei"/>
              </a:rPr>
              <a:t>代表什么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383280"/>
            <a:ext cx="2962656" cy="1600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这些提交存在于当前分支，但目标 master 尚未包含。它可能来自持续开发、分叉或历史未同步。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24912"/>
            <a:ext cx="340156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907792"/>
            <a:ext cx="822960" cy="34747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907792"/>
            <a:ext cx="82296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5966A"/>
                </a:solidFill>
                <a:latin typeface="Microsoft YaHei"/>
              </a:rPr>
              <a:t>是否需要处理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383280"/>
            <a:ext cx="2962656" cy="1600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4324A"/>
                </a:solidFill>
                <a:latin typeface="Microsoft YaHei"/>
              </a:rPr>
              <a:t>如果这是预期的开发差异，无需担心；准备合并前，应确认这 166 个提交确实都应进入目标分支。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49824"/>
            <a:ext cx="10808208" cy="521207"/>
          </a:xfrm>
          <a:prstGeom prst="roundRect">
            <a:avLst/>
          </a:prstGeom>
          <a:solidFill>
            <a:srgbClr val="FFF1E3"/>
          </a:solidFill>
          <a:ln w="12700">
            <a:solidFill>
              <a:srgbClr val="FFF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49824"/>
            <a:ext cx="10442448" cy="521207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8872E"/>
                </a:solidFill>
                <a:latin typeface="Microsoft YaHei"/>
              </a:rPr>
              <a:t>提醒：166 commits ≠ 166 个文件。一个提交可以修改零个、一个或多个文件。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519672"/>
            <a:ext cx="2743200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Git 使用过程短问题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10528"/>
            <a:ext cx="438912" cy="182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778C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使用过程短问题</dc:title>
  <dc:subject>GitHub 常见操作疑问与处理方法</dc:subject>
  <dc:creator>PPT-Producer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